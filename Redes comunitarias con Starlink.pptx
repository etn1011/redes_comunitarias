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68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2EAFC-B9A2-4E29-9BD5-8E76064FF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Redes comunitarias con </a:t>
            </a:r>
            <a:r>
              <a:rPr lang="es-MX" dirty="0" err="1"/>
              <a:t>Starlink</a:t>
            </a:r>
            <a:endParaRPr lang="es-B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6BCB45-B4A0-4A27-B968-2A15ED754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ETN1011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95634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DB225-7CC0-4C59-AC9E-9192E291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C9E421-C638-4886-8237-8747A7AF3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Las </a:t>
            </a:r>
            <a:r>
              <a:rPr lang="es-MX" b="1" dirty="0"/>
              <a:t>redes comunitarias</a:t>
            </a:r>
            <a:r>
              <a:rPr lang="es-MX" dirty="0"/>
              <a:t> son infraestructuras de telecomunicaciones creadas, administradas y mantenidas por una comunidad local para proporcionar servicios de comunicación —generalmente acceso a Internet, telefonía o redes de datos— en lugares donde los operadores comerciales no ofrecen cobertura adecuada o donde la comunidad busca autonomía tecnológica.</a:t>
            </a:r>
          </a:p>
          <a:p>
            <a:r>
              <a:rPr lang="es-MX" dirty="0"/>
              <a:t>La idea central es que la red no pertenece a una gran empresa, sino a la propia comunidad, cooperativa, asociación o municipio que la utiliza.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53987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8068A-6189-4F82-AA7B-D366146B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Características principales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49013-5869-4504-9379-92BA729A8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/>
              <a:t>Gestión comunitaria: Los usuarios participan en la construcción, mantenimiento y toma de decisiones de la red.</a:t>
            </a:r>
          </a:p>
          <a:p>
            <a:r>
              <a:rPr lang="es-MX" dirty="0"/>
              <a:t>Objetivo social antes que comercial: Se prioriza la conectividad, educación, inclusión digital o desarrollo local más que la maximización de ganancias.</a:t>
            </a:r>
          </a:p>
          <a:p>
            <a:r>
              <a:rPr lang="es-MX" dirty="0"/>
              <a:t>Infraestructura compartida: Puede usar enlaces inalámbricos, fibra óptica, radioenlaces o redes </a:t>
            </a:r>
            <a:r>
              <a:rPr lang="es-MX" dirty="0" err="1"/>
              <a:t>mesh</a:t>
            </a:r>
            <a:r>
              <a:rPr lang="es-MX" dirty="0"/>
              <a:t>.</a:t>
            </a:r>
          </a:p>
          <a:p>
            <a:r>
              <a:rPr lang="es-MX" dirty="0"/>
              <a:t>Gobernanza local: Las reglas, costos y expansión suelen decidirse colectivamente.</a:t>
            </a:r>
          </a:p>
          <a:p>
            <a:r>
              <a:rPr lang="es-MX" dirty="0"/>
              <a:t>Uso frecuente en zonas rurales o marginadas: Especialmente donde las telecomunicaciones tradicionales son caras o inexistentes.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6989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7476F-FDF5-4EB7-99A4-4D7F306D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Tecnologías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918C4B-D4EC-4D1F-A4AA-0DDFDC25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Tecnologías comunes:</a:t>
            </a:r>
          </a:p>
          <a:p>
            <a:pPr lvl="1"/>
            <a:r>
              <a:rPr lang="es-BO" dirty="0" err="1"/>
              <a:t>Wi</a:t>
            </a:r>
            <a:r>
              <a:rPr lang="es-BO" dirty="0"/>
              <a:t>-Fi de largo alcance</a:t>
            </a:r>
          </a:p>
          <a:p>
            <a:pPr lvl="1"/>
            <a:r>
              <a:rPr lang="es-BO" dirty="0"/>
              <a:t>Redes </a:t>
            </a:r>
            <a:r>
              <a:rPr lang="es-BO" dirty="0" err="1"/>
              <a:t>mesh</a:t>
            </a:r>
            <a:endParaRPr lang="es-BO" dirty="0"/>
          </a:p>
          <a:p>
            <a:pPr lvl="1"/>
            <a:r>
              <a:rPr lang="es-BO" dirty="0"/>
              <a:t>Fibra óptica comunitaria</a:t>
            </a:r>
          </a:p>
          <a:p>
            <a:pPr lvl="1"/>
            <a:r>
              <a:rPr lang="es-BO" dirty="0"/>
              <a:t>LTE/4G local</a:t>
            </a:r>
          </a:p>
          <a:p>
            <a:pPr lvl="1"/>
            <a:r>
              <a:rPr lang="es-BO" dirty="0"/>
              <a:t>Energía solar para nodos remotos</a:t>
            </a:r>
          </a:p>
        </p:txBody>
      </p:sp>
    </p:spTree>
    <p:extLst>
      <p:ext uri="{BB962C8B-B14F-4D97-AF65-F5344CB8AC3E}">
        <p14:creationId xmlns:p14="http://schemas.microsoft.com/office/powerpoint/2010/main" val="406893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77FB1-9597-4AC5-BE43-529A1619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Importancia estratégica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D3232-7588-4692-BF49-0E3236DEB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reducen la brecha digital,</a:t>
            </a:r>
          </a:p>
          <a:p>
            <a:r>
              <a:rPr lang="es-MX" dirty="0"/>
              <a:t>aumentan la soberanía tecnológica local,</a:t>
            </a:r>
          </a:p>
          <a:p>
            <a:r>
              <a:rPr lang="es-MX" dirty="0"/>
              <a:t>permiten resiliencia en desastres o crisis,</a:t>
            </a:r>
          </a:p>
          <a:p>
            <a:r>
              <a:rPr lang="es-MX" dirty="0"/>
              <a:t>disminuyen dependencia de monopolios,</a:t>
            </a:r>
          </a:p>
          <a:p>
            <a:r>
              <a:rPr lang="es-MX" dirty="0"/>
              <a:t>y pueden funcionar como “redes neutras” locales.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01950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5A31F-67A8-4D6B-B626-633EC8A4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Ejemplo: Guifi.net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CD65A5-87E6-47B7-8A80-939A8AAF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Guifi.net es una red de telecomunicaciones comunitaria y abierta creada en Cataluña, España. Funciona como una infraestructura colaborativa en la que individuos, empresas y administraciones públicas despliegan y comparten conectividad. Es uno de los mayores proyectos de red comunitaria del mundo, promoviendo el acceso universal a Internet como bien común.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604730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5A31F-67A8-4D6B-B626-633EC8A4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Ejemplo: Guifi.net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CD65A5-87E6-47B7-8A80-939A8AAF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Fundación: 2004</a:t>
            </a:r>
          </a:p>
          <a:p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Fundador: Ramón Roca</a:t>
            </a:r>
          </a:p>
          <a:p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Tipo: Red comunitaria sin ánimo de lucro</a:t>
            </a:r>
          </a:p>
          <a:p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Cobertura: Más de 35.000 nodos en España y otros países</a:t>
            </a:r>
          </a:p>
          <a:p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Sede: </a:t>
            </a:r>
            <a:r>
              <a:rPr lang="es-MX" b="0" i="0" dirty="0" err="1">
                <a:solidFill>
                  <a:srgbClr val="FFFFFF"/>
                </a:solidFill>
                <a:effectLst/>
                <a:latin typeface="-apple-system-body"/>
              </a:rPr>
              <a:t>Gurb</a:t>
            </a:r>
            <a:r>
              <a:rPr lang="es-MX" b="0" i="0" dirty="0">
                <a:solidFill>
                  <a:srgbClr val="FFFFFF"/>
                </a:solidFill>
                <a:effectLst/>
                <a:latin typeface="-apple-system-body"/>
              </a:rPr>
              <a:t>, Barcelona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5349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5A31F-67A8-4D6B-B626-633EC8A4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Ejemplo: Guifi.net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CD65A5-87E6-47B7-8A80-939A8AAF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Guifi.net nació en 2004 en la comarca de </a:t>
            </a:r>
            <a:r>
              <a:rPr lang="es-MX" dirty="0" err="1"/>
              <a:t>Osona</a:t>
            </a:r>
            <a:r>
              <a:rPr lang="es-MX" dirty="0"/>
              <a:t> (Cataluña) para resolver la falta de acceso a Internet en zonas rurales. Su modelo se basa en la cooperación ciudadana y el uso compartido de infraestructuras, inspirado en los principios de las redes abiertas, libres y neutrales. Los participantes contribuyen con equipos, enlaces y conocimientos técnicos para expandir la red.</a:t>
            </a:r>
          </a:p>
          <a:p>
            <a:pPr marL="0" indent="0">
              <a:buNone/>
            </a:pPr>
            <a:r>
              <a:rPr lang="es-MX" dirty="0"/>
              <a:t>La red se organiza bajo un sistema de gestión distribuido. Cada nodo —ya sea un hogar, empresa o ayuntamiento— se conecta a otros mediante enlaces inalámbricos o de fibra óptica. Guifi.net utiliza una licencia común que garantiza la neutralidad, el libre uso y la sostenibilidad del recurso compartido. La Fundación Guifi.net coordina aspectos técnicos, legales y de gobernanza.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547770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5A31F-67A8-4D6B-B626-633EC8A4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Ejemplo: Guifi.net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CD65A5-87E6-47B7-8A80-939A8AAF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Impacto y reconocimiento</a:t>
            </a:r>
          </a:p>
          <a:p>
            <a:pPr marL="0" indent="0">
              <a:buNone/>
            </a:pPr>
            <a:r>
              <a:rPr lang="es-MX" dirty="0"/>
              <a:t>Guifi.net ha sido reconocida como un modelo pionero de telecomunicaciones comunitarias en Europa. Ha impulsado el desarrollo local, reducido la brecha digital y fomentado la innovación social. Su estructura abierta ha inspirado iniciativas similares en otros países y ha sido objeto de estudio en políticas públicas de conectividad.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Situación actual</a:t>
            </a:r>
          </a:p>
          <a:p>
            <a:pPr marL="0" indent="0">
              <a:buNone/>
            </a:pPr>
            <a:r>
              <a:rPr lang="es-MX" dirty="0"/>
              <a:t>Hoy, Guifi.net sigue expandiéndose mediante redes de fibra óptica y acuerdos con operadores locales. La comunidad mantiene un ecosistema activo de voluntarios y profesionales que promueven un acceso a Internet descentralizado y gestionado por los propios usuarios.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5692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41366-BB41-4127-AFA8-14CD222B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Organizaciones de apoyo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7A052-C3A3-42BF-ACD2-DFF37A9A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/>
              <a:t>Internet </a:t>
            </a:r>
            <a:r>
              <a:rPr lang="es-MX" dirty="0" err="1"/>
              <a:t>Society</a:t>
            </a:r>
            <a:endParaRPr lang="es-MX" dirty="0"/>
          </a:p>
          <a:p>
            <a:pPr lvl="1"/>
            <a:r>
              <a:rPr lang="es-MX" dirty="0"/>
              <a:t>Una de las organizaciones más activas en este campo.</a:t>
            </a:r>
          </a:p>
          <a:p>
            <a:pPr lvl="1"/>
            <a:r>
              <a:rPr lang="es-MX" dirty="0"/>
              <a:t>Promueve lo que llama </a:t>
            </a:r>
            <a:r>
              <a:rPr lang="es-MX" dirty="0" err="1"/>
              <a:t>Community-Centered</a:t>
            </a:r>
            <a:r>
              <a:rPr lang="es-MX" dirty="0"/>
              <a:t> </a:t>
            </a:r>
            <a:r>
              <a:rPr lang="es-MX" dirty="0" err="1"/>
              <a:t>Connectivity</a:t>
            </a:r>
            <a:r>
              <a:rPr lang="es-MX" dirty="0"/>
              <a:t> y financia proyectos de redes comunitarias, capacitación técnica y herramientas abiertas.</a:t>
            </a:r>
          </a:p>
          <a:p>
            <a:pPr lvl="1"/>
            <a:r>
              <a:rPr lang="es-MX" dirty="0"/>
              <a:t>También impulsa cambios regulatorios para facilitar espectro y licencias.</a:t>
            </a:r>
          </a:p>
          <a:p>
            <a:r>
              <a:rPr lang="es-MX" dirty="0"/>
              <a:t>Dynamic </a:t>
            </a:r>
            <a:r>
              <a:rPr lang="es-MX" dirty="0" err="1"/>
              <a:t>Coalition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Community</a:t>
            </a:r>
            <a:r>
              <a:rPr lang="es-MX" dirty="0"/>
              <a:t> </a:t>
            </a:r>
            <a:r>
              <a:rPr lang="es-MX" dirty="0" err="1"/>
              <a:t>Connectivity</a:t>
            </a:r>
            <a:endParaRPr lang="es-MX" dirty="0"/>
          </a:p>
          <a:p>
            <a:pPr lvl="1"/>
            <a:r>
              <a:rPr lang="es-MX" dirty="0"/>
              <a:t>Conocida como DC3, funciona dentro del ecosistema del Foro de Gobernanza de Internet de la ONU.</a:t>
            </a:r>
          </a:p>
          <a:p>
            <a:pPr lvl="1"/>
            <a:r>
              <a:rPr lang="es-MX" dirty="0"/>
              <a:t>Coordina cooperación internacional entre proyectos de redes comunitarias, investigadores, activistas y reguladores.</a:t>
            </a:r>
          </a:p>
          <a:p>
            <a:pPr lvl="1"/>
            <a:r>
              <a:rPr lang="es-MX" dirty="0"/>
              <a:t>Produce guías técnicas y de políticas públicas.</a:t>
            </a:r>
          </a:p>
        </p:txBody>
      </p:sp>
    </p:spTree>
    <p:extLst>
      <p:ext uri="{BB962C8B-B14F-4D97-AF65-F5344CB8AC3E}">
        <p14:creationId xmlns:p14="http://schemas.microsoft.com/office/powerpoint/2010/main" val="278111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41366-BB41-4127-AFA8-14CD222B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Organizaciones de apoyo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7A052-C3A3-42BF-ACD2-DFF37A9A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err="1"/>
              <a:t>Rhizomatica</a:t>
            </a:r>
            <a:endParaRPr lang="es-MX" dirty="0"/>
          </a:p>
          <a:p>
            <a:pPr lvl="1"/>
            <a:r>
              <a:rPr lang="es-MX" dirty="0"/>
              <a:t>Organización muy influyente en América Latina, especialmente en redes indígenas autónomas.</a:t>
            </a:r>
          </a:p>
          <a:p>
            <a:pPr lvl="1"/>
            <a:r>
              <a:rPr lang="es-MX" dirty="0"/>
              <a:t>Desarrolla tecnologías abiertas para GSM comunitario y realiza trabajo regulatorio para permitir telecomunicaciones autogestionadas.</a:t>
            </a:r>
          </a:p>
          <a:p>
            <a:r>
              <a:rPr lang="es-MX" dirty="0" err="1"/>
              <a:t>Association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Progressive</a:t>
            </a:r>
            <a:r>
              <a:rPr lang="es-MX" dirty="0"/>
              <a:t> </a:t>
            </a:r>
            <a:r>
              <a:rPr lang="es-MX" dirty="0" err="1"/>
              <a:t>Communications</a:t>
            </a:r>
            <a:endParaRPr lang="es-MX" dirty="0"/>
          </a:p>
          <a:p>
            <a:pPr lvl="1"/>
            <a:r>
              <a:rPr lang="es-MX" dirty="0"/>
              <a:t>La APC es una red internacional histórica de activismo tecnológico y derechos digitales.</a:t>
            </a:r>
          </a:p>
          <a:p>
            <a:pPr lvl="1"/>
            <a:r>
              <a:rPr lang="es-MX" dirty="0"/>
              <a:t>Apoya redes comunitarias mediante investigación, capacitación, incidencia política y financiamiento parcial de proyectos.</a:t>
            </a:r>
          </a:p>
        </p:txBody>
      </p:sp>
    </p:spTree>
    <p:extLst>
      <p:ext uri="{BB962C8B-B14F-4D97-AF65-F5344CB8AC3E}">
        <p14:creationId xmlns:p14="http://schemas.microsoft.com/office/powerpoint/2010/main" val="152077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41366-BB41-4127-AFA8-14CD222B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Organizaciones de apoyo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7A052-C3A3-42BF-ACD2-DFF37A9A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International </a:t>
            </a:r>
            <a:r>
              <a:rPr lang="es-MX" dirty="0" err="1"/>
              <a:t>Telecommunication</a:t>
            </a:r>
            <a:r>
              <a:rPr lang="es-MX" dirty="0"/>
              <a:t> </a:t>
            </a:r>
            <a:r>
              <a:rPr lang="es-MX" dirty="0" err="1"/>
              <a:t>Union</a:t>
            </a:r>
            <a:endParaRPr lang="es-MX" dirty="0"/>
          </a:p>
          <a:p>
            <a:pPr lvl="1"/>
            <a:r>
              <a:rPr lang="es-MX" dirty="0"/>
              <a:t>La UIT/ITU, agencia especializada de telecomunicaciones de la ONU, ha apoyado iniciativas de conectividad comunitaria y acceso universal, especialmente en países en desarrollo.</a:t>
            </a:r>
          </a:p>
          <a:p>
            <a:r>
              <a:rPr lang="es-MX" dirty="0"/>
              <a:t>UNESCO</a:t>
            </a:r>
          </a:p>
          <a:p>
            <a:pPr lvl="1"/>
            <a:r>
              <a:rPr lang="es-MX" dirty="0"/>
              <a:t>Apoya proyectos relacionados con inclusión digital, alfabetización tecnológica y acceso comunitario a información y comunicación.</a:t>
            </a:r>
          </a:p>
          <a:p>
            <a:r>
              <a:rPr lang="es-MX" dirty="0" err="1"/>
              <a:t>Emergency</a:t>
            </a:r>
            <a:r>
              <a:rPr lang="es-MX" dirty="0"/>
              <a:t> </a:t>
            </a:r>
            <a:r>
              <a:rPr lang="es-MX" dirty="0" err="1"/>
              <a:t>Telecommunications</a:t>
            </a:r>
            <a:r>
              <a:rPr lang="es-MX" dirty="0"/>
              <a:t> </a:t>
            </a:r>
            <a:r>
              <a:rPr lang="es-MX" dirty="0" err="1"/>
              <a:t>Cluster</a:t>
            </a:r>
            <a:endParaRPr lang="es-MX" dirty="0"/>
          </a:p>
          <a:p>
            <a:pPr lvl="1"/>
            <a:r>
              <a:rPr lang="es-MX" dirty="0"/>
              <a:t>Red internacional coordinada por organismos humanitarios para desplegar telecomunicaciones en emergencias y desastres.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8329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Internet global → Backhaul → Distribución → Acceso local</a:t>
            </a:r>
          </a:p>
          <a:p>
            <a:r>
              <a:t>Modelo híbrido y descentralizado</a:t>
            </a:r>
          </a:p>
          <a:p>
            <a:r>
              <a:t>Objetivo: conectividad comunitaria sostenible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Backhaul: Conexión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Fibra óptica: alta capacidad y baja latencia</a:t>
            </a:r>
          </a:p>
          <a:p>
            <a:r>
              <a:t>Radioenlaces de microondas: enlaces de larga distancia</a:t>
            </a:r>
          </a:p>
          <a:p>
            <a:r>
              <a:t>Satélite GEO y LEO (ej. Starlink) para zonas aisladas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 Inalámbricas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Wi‑Fi de largo alcance en 2.4 GHz y 5 GHz</a:t>
            </a:r>
          </a:p>
          <a:p>
            <a:r>
              <a:t>Punto‑multipunto con torres comunitarias</a:t>
            </a:r>
          </a:p>
          <a:p>
            <a:r>
              <a:t>Antenas direccionales y enlaces de línea de vista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Redes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nodo retransmite tráfico</a:t>
            </a:r>
          </a:p>
          <a:p>
            <a:r>
              <a:t>Protocolos: B.A.T.M.A.N., OLSR, Babel</a:t>
            </a:r>
          </a:p>
          <a:p>
            <a:r>
              <a:t>Alta resiliencia y descentralización</a:t>
            </a:r>
          </a:p>
          <a:p>
            <a:r>
              <a:t>Limitaciones de escalabilidad e interferencia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Fibra Comunitaria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FTTH comunitario</a:t>
            </a:r>
          </a:p>
          <a:p>
            <a:r>
              <a:t>Tecnologías GPON y EPON</a:t>
            </a:r>
          </a:p>
          <a:p>
            <a:r>
              <a:t>Mayor estabilidad y velocidad</a:t>
            </a:r>
          </a:p>
          <a:p>
            <a:r>
              <a:t>Más costosa de desplegar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Redes Celulares Comunitarias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GSM/4G/5G local</a:t>
            </a:r>
          </a:p>
          <a:p>
            <a:r>
              <a:t>Software abierto: OpenBTS, Open5GS, srsRAN</a:t>
            </a:r>
          </a:p>
          <a:p>
            <a:r>
              <a:t>Uso frecuente en comunidades rurales e indígenas</a:t>
            </a:r>
          </a:p>
          <a:p>
            <a:r>
              <a:t>Problema principal: regulación del espectro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Energía e Infraestructura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Paneles solares y baterías</a:t>
            </a:r>
          </a:p>
          <a:p>
            <a:r>
              <a:t>Equipos de bajo consumo</a:t>
            </a:r>
          </a:p>
          <a:p>
            <a:r>
              <a:t>Torres, routers y nodos distribuidos</a:t>
            </a:r>
          </a:p>
          <a:p>
            <a:r>
              <a:t>Importancia de la estabilidad energética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y Gestión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OpenWRT, Linux y RouterOS</a:t>
            </a:r>
          </a:p>
          <a:p>
            <a:r>
              <a:t>Monitoreo: Zabbix, LibreNMS, Nagios</a:t>
            </a:r>
          </a:p>
          <a:p>
            <a:r>
              <a:t>Autenticación: FreeRADIUS y PPPoE</a:t>
            </a:r>
          </a:p>
          <a:p>
            <a:r>
              <a:t>Gestión comunitaria y mantenimiento local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Tendencias y Retos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OpenRAN y LTE privado</a:t>
            </a:r>
          </a:p>
          <a:p>
            <a:r>
              <a:t>TV White Spaces para áreas rurales</a:t>
            </a:r>
          </a:p>
          <a:p>
            <a:r>
              <a:t>Retos: financiamiento, mantenimiento y regulación</a:t>
            </a:r>
          </a:p>
          <a:p>
            <a:r>
              <a:t>Las redes comunitarias tienden a profesionalizarse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Protocolo B.A.T.M.A.N.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Better Approach To Mobile Adhoc Networking</a:t>
            </a:r>
          </a:p>
          <a:p>
            <a:r>
              <a:t>Protocolo de routing mesh para redes comunitarias</a:t>
            </a:r>
          </a:p>
          <a:p>
            <a:r>
              <a:t>Diseñado para redes descentralizadas y dinámicas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Concepto Fundamental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nodo conoce solo el mejor siguiente salto</a:t>
            </a:r>
          </a:p>
          <a:p>
            <a:r>
              <a:t>No necesita conocer toda la topología global</a:t>
            </a:r>
          </a:p>
          <a:p>
            <a:r>
              <a:t>Reduce overhead de routing</a:t>
            </a:r>
          </a:p>
          <a:p>
            <a:r>
              <a:t>Escala mejor que OLSR en muchas situaciones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Funcionamiento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nodos intercambian mensajes OGM (Originator Messages)</a:t>
            </a:r>
          </a:p>
          <a:p>
            <a:r>
              <a:t>Cada nodo evalúa calidad de enlace</a:t>
            </a:r>
          </a:p>
          <a:p>
            <a:r>
              <a:t>Se selecciona la mejor ruta disponible</a:t>
            </a:r>
          </a:p>
          <a:p>
            <a:r>
              <a:t>Las rutas pueden cambiar automáticamente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Nodo ↔ Nodo ↔ Nodo</a:t>
            </a:r>
          </a:p>
          <a:p>
            <a:r>
              <a:t>Todos pueden retransmitir tráfico</a:t>
            </a:r>
          </a:p>
          <a:p>
            <a:r>
              <a:t>Autocuración ante fallas</a:t>
            </a:r>
          </a:p>
          <a:p>
            <a:r>
              <a:t>Múltiples rutas redundantes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BATMAN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Alta resiliencia</a:t>
            </a:r>
          </a:p>
          <a:p>
            <a:r>
              <a:t>Menor complejidad de routing</a:t>
            </a:r>
          </a:p>
          <a:p>
            <a:r>
              <a:t>Buen comportamiento en redes dinámicas</a:t>
            </a:r>
          </a:p>
          <a:p>
            <a:r>
              <a:t>Adecuado para redes comunitarias y rurales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throughput disminuye con muchos saltos</a:t>
            </a:r>
          </a:p>
          <a:p>
            <a:r>
              <a:t>Interferencia Wi‑Fi afecta rendimiento</a:t>
            </a:r>
          </a:p>
          <a:p>
            <a:r>
              <a:t>Las mesh puras tienen límites de escalabilidad</a:t>
            </a:r>
          </a:p>
          <a:p>
            <a:r>
              <a:t>Requiere buena planificación RF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Usado en Redes BATMAN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Routers TP‑Link con </a:t>
            </a:r>
            <a:r>
              <a:rPr dirty="0" err="1"/>
              <a:t>OpenWRT</a:t>
            </a:r>
            <a:endParaRPr dirty="0"/>
          </a:p>
          <a:p>
            <a:r>
              <a:rPr dirty="0" err="1"/>
              <a:t>Equipos</a:t>
            </a:r>
            <a:r>
              <a:rPr dirty="0"/>
              <a:t> Ubiquiti </a:t>
            </a:r>
            <a:r>
              <a:rPr dirty="0" err="1"/>
              <a:t>AirMax</a:t>
            </a:r>
            <a:endParaRPr dirty="0"/>
          </a:p>
          <a:p>
            <a:r>
              <a:rPr dirty="0" err="1"/>
              <a:t>MikroTik</a:t>
            </a:r>
            <a:r>
              <a:rPr dirty="0"/>
              <a:t> </a:t>
            </a:r>
            <a:r>
              <a:rPr dirty="0" err="1"/>
              <a:t>RouterBOARD</a:t>
            </a:r>
            <a:endParaRPr dirty="0"/>
          </a:p>
          <a:p>
            <a:r>
              <a:rPr dirty="0"/>
              <a:t>PCs Linux y Raspberry Pi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nodos</a:t>
            </a:r>
            <a:r>
              <a:rPr dirty="0"/>
              <a:t> mesh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Equipos Ubiquiti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NanoStation</a:t>
            </a:r>
          </a:p>
          <a:p>
            <a:r>
              <a:t>Rocket M5</a:t>
            </a:r>
          </a:p>
          <a:p>
            <a:r>
              <a:t>LiteBeam</a:t>
            </a:r>
          </a:p>
          <a:p>
            <a:r>
              <a:t>PowerBeam</a:t>
            </a:r>
          </a:p>
          <a:p>
            <a:r>
              <a:t>Muy usados en enlaces comunitarios rurales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Equipos MikroTik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RouterBOARD</a:t>
            </a:r>
          </a:p>
          <a:p>
            <a:r>
              <a:t>hAP ac</a:t>
            </a:r>
          </a:p>
          <a:p>
            <a:r>
              <a:t>LHG 5</a:t>
            </a:r>
          </a:p>
          <a:p>
            <a:r>
              <a:t>BaseBox</a:t>
            </a:r>
          </a:p>
          <a:p>
            <a:r>
              <a:t>Popular por flexibilidad y costo moderado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y 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OpenWRT</a:t>
            </a:r>
          </a:p>
          <a:p>
            <a:r>
              <a:t>LibreMesh</a:t>
            </a:r>
          </a:p>
          <a:p>
            <a:r>
              <a:t>batman-adv (kernel Linux)</a:t>
            </a:r>
          </a:p>
          <a:p>
            <a:r>
              <a:t>Herramientas de monitoreo y diagnóstico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Freifunk (Alemania)</a:t>
            </a:r>
          </a:p>
          <a:p>
            <a:r>
              <a:t>Guifi.net (España)</a:t>
            </a:r>
          </a:p>
          <a:p>
            <a:r>
              <a:t>Altermundi y LibreMesh en América Latina</a:t>
            </a:r>
          </a:p>
          <a:p>
            <a:r>
              <a:t>Redes comunitarias rurales e indígenas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Moderna Híbrida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Backbone principal con fibra o microondas</a:t>
            </a:r>
          </a:p>
          <a:p>
            <a:r>
              <a:t>Segmentos locales mesh con BATMAN</a:t>
            </a:r>
          </a:p>
          <a:p>
            <a:r>
              <a:t>Wi‑Fi comunitario para acceso final</a:t>
            </a:r>
          </a:p>
          <a:p>
            <a:r>
              <a:t>Modelo híbrido más eficiente que mesh pura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BATMAN es uno de los protocolos mesh más importantes</a:t>
            </a:r>
          </a:p>
          <a:p>
            <a:r>
              <a:t>Ideal para resiliencia y descentralización</a:t>
            </a:r>
          </a:p>
          <a:p>
            <a:r>
              <a:t>Muy útil en redes comunitarias</a:t>
            </a:r>
          </a:p>
          <a:p>
            <a:r>
              <a:t>Las implementaciones modernas combinan mesh y backbone estructurado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Starlink?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Servicio satelital de órbita baja (LEO)</a:t>
            </a:r>
          </a:p>
          <a:p>
            <a:r>
              <a:t>Desarrollado por SpaceX</a:t>
            </a:r>
          </a:p>
          <a:p>
            <a:r>
              <a:t>Menor latencia que satélites GEO tradicionales</a:t>
            </a:r>
          </a:p>
          <a:p>
            <a:r>
              <a:t>Cobertura global en expansión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Terminal Starlink → Router principal → Red comunitaria</a:t>
            </a:r>
          </a:p>
          <a:p>
            <a:r>
              <a:t>Distribución mediante Wi‑Fi, fibra o radioenlaces</a:t>
            </a:r>
          </a:p>
          <a:p>
            <a:r>
              <a:t>Puede alimentar múltiples usuarios comunitarios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Comunitario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 antena Starlink compartida</a:t>
            </a:r>
          </a:p>
          <a:p>
            <a:r>
              <a:t>Router central con control de ancho de banda</a:t>
            </a:r>
          </a:p>
          <a:p>
            <a:r>
              <a:t>Distribución local mediante Wi‑Fi</a:t>
            </a:r>
          </a:p>
          <a:p>
            <a:r>
              <a:t>Adecuado para pequeñas comunidades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con Redes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Starlink como backhaul principal</a:t>
            </a:r>
          </a:p>
          <a:p>
            <a:r>
              <a:t>Nodos mesh distribuyen tráfico local</a:t>
            </a:r>
          </a:p>
          <a:p>
            <a:r>
              <a:t>Uso de BATMAN o LibreMesh</a:t>
            </a:r>
          </a:p>
          <a:p>
            <a:r>
              <a:t>Alta resiliencia y bajo costo de expansión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con Torres Inalámbricas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Starlink conectado a torre central</a:t>
            </a:r>
          </a:p>
          <a:p>
            <a:r>
              <a:t>Enlaces punto‑multipunto</a:t>
            </a:r>
          </a:p>
          <a:p>
            <a:r>
              <a:t>Cobertura para varias comunidades</a:t>
            </a:r>
          </a:p>
          <a:p>
            <a:r>
              <a:t>Uso frecuente en áreas montañosas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Equipos Utilizados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Terminal Starlink</a:t>
            </a:r>
          </a:p>
          <a:p>
            <a:r>
              <a:t>Routers MikroTik</a:t>
            </a:r>
          </a:p>
          <a:p>
            <a:r>
              <a:t>Equipos Ubiquiti AirMax</a:t>
            </a:r>
          </a:p>
          <a:p>
            <a:r>
              <a:t>Switches PoE y paneles solares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Distribución Wi‑Fi Comunitaria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Wi‑Fi 2.4 GHz para alcance</a:t>
            </a:r>
          </a:p>
          <a:p>
            <a:r>
              <a:t>Wi‑Fi 5 GHz para capacidad</a:t>
            </a:r>
          </a:p>
          <a:p>
            <a:r>
              <a:t>Captive portals y control de usuarios</a:t>
            </a:r>
          </a:p>
          <a:p>
            <a:r>
              <a:t>Segmentación de tráfico comunitario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con Radioenlaces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Starlink alimenta backbone inalámbrico</a:t>
            </a:r>
          </a:p>
          <a:p>
            <a:r>
              <a:t>Microondas para largas distancias</a:t>
            </a:r>
          </a:p>
          <a:p>
            <a:r>
              <a:t>Expansión regional económica</a:t>
            </a:r>
          </a:p>
          <a:p>
            <a:r>
              <a:t>Muy usado en zonas rurales latinoamericanas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Energía en Zonas Rurales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Paneles solares</a:t>
            </a:r>
          </a:p>
          <a:p>
            <a:r>
              <a:t>Baterías de respaldo</a:t>
            </a:r>
          </a:p>
          <a:p>
            <a:r>
              <a:t>Equipos de bajo consumo</a:t>
            </a:r>
          </a:p>
          <a:p>
            <a:r>
              <a:t>Importancia de protección climática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Starlink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Despliegue rápido</a:t>
            </a:r>
          </a:p>
          <a:p>
            <a:r>
              <a:t>Cobertura en lugares remotos</a:t>
            </a:r>
          </a:p>
          <a:p>
            <a:r>
              <a:t>Menor dependencia de fibra</a:t>
            </a:r>
          </a:p>
          <a:p>
            <a:r>
              <a:t>Útil en desastres y emergencias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Costo mensual relativamente alto</a:t>
            </a:r>
          </a:p>
          <a:p>
            <a:r>
              <a:t>Dependencia de proveedor externo</a:t>
            </a:r>
          </a:p>
          <a:p>
            <a:r>
              <a:t>Capacidad compartida</a:t>
            </a:r>
          </a:p>
          <a:p>
            <a:r>
              <a:t>Sensibilidad climática parcial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Aspectos Regulatorios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Licencias ISP locales</a:t>
            </a:r>
          </a:p>
          <a:p>
            <a:r>
              <a:t>Regulación de redistribución de internet</a:t>
            </a:r>
          </a:p>
          <a:p>
            <a:r>
              <a:t>Uso comunitario vs comercial</a:t>
            </a:r>
          </a:p>
          <a:p>
            <a:r>
              <a:t>Normativas de espectro y telecomunicaciones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Escuelas rurales</a:t>
            </a:r>
          </a:p>
          <a:p>
            <a:r>
              <a:t>Comunidades indígenas</a:t>
            </a:r>
          </a:p>
          <a:p>
            <a:r>
              <a:t>Postas sanitarias</a:t>
            </a:r>
          </a:p>
          <a:p>
            <a:r>
              <a:t>Conectividad de emergencia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Moderna Recomendada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Starlink como backhaul</a:t>
            </a:r>
          </a:p>
          <a:p>
            <a:r>
              <a:t>Backbone regional inalámbrico</a:t>
            </a:r>
          </a:p>
          <a:p>
            <a:r>
              <a:t>Mesh local o FTTH comunitario</a:t>
            </a:r>
          </a:p>
          <a:p>
            <a:r>
              <a:t>Modelo híbrido escalable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Starlink facilita redes comunitarias rápidas</a:t>
            </a:r>
          </a:p>
          <a:p>
            <a:r>
              <a:t>Muy útil en regiones aisladas</a:t>
            </a:r>
          </a:p>
          <a:p>
            <a:r>
              <a:t>Debe combinarse con buena distribución local</a:t>
            </a:r>
          </a:p>
          <a:p>
            <a:r>
              <a:t>El modelo híbrido es el más eficiente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típica con Starlink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Terminal Starlink conectada a router principal.</a:t>
            </a:r>
          </a:p>
          <a:p>
            <a:r>
              <a:t>Distribución local mediante Wi‑Fi mesh, enlaces PtP/PtMP o fibra comunitaria.</a:t>
            </a:r>
          </a:p>
          <a:p>
            <a:r>
              <a:t>Energía mediante red eléctrica, baterías o paneles solares.</a:t>
            </a:r>
          </a:p>
          <a:p>
            <a:r>
              <a:t>Usuarios comparten ancho de banda desde un único enlace satelital.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– Costos iniciales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Kit Starlink estándar: ~Bs 2.800.</a:t>
            </a:r>
          </a:p>
          <a:p>
            <a:r>
              <a:t>Kit Starlink Mini: ~Bs 2.200.</a:t>
            </a:r>
          </a:p>
          <a:p>
            <a:r>
              <a:t>Router adicional empresarial o MikroTik/Ubiquiti: Bs 500 – 2.000.</a:t>
            </a:r>
          </a:p>
          <a:p>
            <a:r>
              <a:t>Torres, mástiles y montaje: Bs 1.000 – 8.000.</a:t>
            </a:r>
          </a:p>
          <a:p>
            <a:r>
              <a:t>Sistema solar y baterías (opcional): Bs 4.000 – 15.000.</a:t>
            </a:r>
          </a:p>
          <a:p>
            <a:r>
              <a:t>Cableado, switches y protección eléctrica: Bs 1.000 – 3.000.</a:t>
            </a:r>
          </a:p>
          <a:p>
            <a:r>
              <a:t>Licencias, transporte e instalación técnica.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CAPEX – Nodo comunitario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Kit Starlink estándar: Bs 2.800</a:t>
            </a:r>
          </a:p>
          <a:p>
            <a:r>
              <a:t>Router MikroTik/Ubiquiti: Bs 1.200</a:t>
            </a:r>
          </a:p>
          <a:p>
            <a:r>
              <a:t>3 radios mesh/PtMP: Bs 3.600</a:t>
            </a:r>
          </a:p>
          <a:p>
            <a:r>
              <a:t>Mástil y accesorios: Bs 2.000</a:t>
            </a:r>
          </a:p>
          <a:p>
            <a:r>
              <a:t>UPS + baterías: Bs 3.500</a:t>
            </a:r>
          </a:p>
          <a:p>
            <a:r>
              <a:t>Instalación y transporte: Bs 2.000</a:t>
            </a:r>
          </a:p>
          <a:p>
            <a:r>
              <a:t>CAPEX total estimado: Bs 15.100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OPEX – Costos operativos mensuales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residencial Lite: ~Bs 400/mes.</a:t>
            </a:r>
          </a:p>
          <a:p>
            <a:r>
              <a:t>Plan residencial estándar: ~Bs 531 – 610/mes.</a:t>
            </a:r>
          </a:p>
          <a:p>
            <a:r>
              <a:t>Planes empresariales: Bs 425 – 3.560/mes según capacidad.</a:t>
            </a:r>
          </a:p>
          <a:p>
            <a:r>
              <a:t>Consumo eléctrico del terminal: 50 – 100 W promedio.</a:t>
            </a:r>
          </a:p>
          <a:p>
            <a:r>
              <a:t>Mantenimiento preventivo y soporte técnico.</a:t>
            </a:r>
          </a:p>
          <a:p>
            <a:r>
              <a:t>Reposición de equipos dañados y baterías.</a:t>
            </a:r>
          </a:p>
          <a:p>
            <a:r>
              <a:t>Costos administrativos y personal comunitario.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económico comunitario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Ejemplo: 40 hogares compartiendo un enlace Starlink.</a:t>
            </a:r>
          </a:p>
          <a:p>
            <a:r>
              <a:t>OPEX estimado total: Bs 1.500/mes incluyendo soporte y energía.</a:t>
            </a:r>
          </a:p>
          <a:p>
            <a:r>
              <a:t>Costo promedio por hogar: ~Bs 37,5/mes.</a:t>
            </a:r>
          </a:p>
          <a:p>
            <a:r>
              <a:t>Permite acceso donde la fibra óptica no es viable económicamente.</a:t>
            </a:r>
          </a:p>
          <a:p>
            <a:r>
              <a:t>El cuello de botella suele ser la capacidad compartida.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Starlink en redes ciudadanas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Cobertura en zonas rurales y de difícil acceso.</a:t>
            </a:r>
          </a:p>
          <a:p>
            <a:r>
              <a:t>Despliegue rápido sin tender fibra.</a:t>
            </a:r>
          </a:p>
          <a:p>
            <a:r>
              <a:t>Velocidades de descarga entre 135 y 310 Mb/s.</a:t>
            </a:r>
          </a:p>
          <a:p>
            <a:r>
              <a:t>Baja latencia comparada con satélites geoestacionarios.</a:t>
            </a:r>
          </a:p>
          <a:p>
            <a:r>
              <a:t>Escalable combinándolo con redes mesh comunitarias.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 y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Dependencia de un proveedor extranjero privado.</a:t>
            </a:r>
          </a:p>
          <a:p>
            <a:r>
              <a:t>Costos altos frente a fibra urbana.</a:t>
            </a:r>
          </a:p>
          <a:p>
            <a:r>
              <a:t>Capacidad compartida puede degradarse en horas pico.</a:t>
            </a:r>
          </a:p>
          <a:p>
            <a:r>
              <a:t>Sensibilidad a clima extremo y obstrucciones.</a:t>
            </a:r>
          </a:p>
          <a:p>
            <a:r>
              <a:t>Necesidad de energía estable.</a:t>
            </a:r>
          </a:p>
          <a:p>
            <a:r>
              <a:t>Posibles restricciones regulatorias futuras.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Starlink es viable como backhaul para redes ciudadanas en áreas remotas.</a:t>
            </a:r>
          </a:p>
          <a:p>
            <a:r>
              <a:t>El principal desafío económico es el OPEX mensual sostenido.</a:t>
            </a:r>
          </a:p>
          <a:p>
            <a:r>
              <a:t>El modelo cooperativo reduce significativamente el costo por usuario.</a:t>
            </a:r>
          </a:p>
          <a:p>
            <a:r>
              <a:t>Combinar Starlink con Wi‑Fi mesh y energía solar mejora sostenibilidad.</a:t>
            </a:r>
          </a:p>
          <a:p>
            <a:r>
              <a:t>No reemplaza completamente a la fibra óptica, pero sí reduce la brecha digital.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y 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Starlink Service Plans – https://starlink.com</a:t>
            </a:r>
          </a:p>
          <a:p>
            <a:r>
              <a:t>Noticias sobre precios de Starlink en Bolivia (2026).</a:t>
            </a:r>
          </a:p>
          <a:p>
            <a:r>
              <a:t>Experiencias de redes comunitarias en América Latina.</a:t>
            </a:r>
          </a:p>
          <a:p>
            <a:r>
              <a:t>Estimaciones referenciales sujetas a cambios de mercado.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{E7CCEB6F-F7C4-43F7-8E49-AFA5DE9889BC}TF37254b02-f5b5-44b0-803d-e6af9466a0244d147964-33a7cc9fa501</Template>
  <TotalTime>213</TotalTime>
  <Words>2131</Words>
  <Application>Microsoft Office PowerPoint</Application>
  <PresentationFormat>Panorámica</PresentationFormat>
  <Paragraphs>305</Paragraphs>
  <Slides>58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58</vt:i4>
      </vt:variant>
    </vt:vector>
  </HeadingPairs>
  <TitlesOfParts>
    <vt:vector size="64" baseType="lpstr">
      <vt:lpstr>-apple-system-body</vt:lpstr>
      <vt:lpstr>Arial</vt:lpstr>
      <vt:lpstr>MS Shell Dlg 2</vt:lpstr>
      <vt:lpstr>Wingdings</vt:lpstr>
      <vt:lpstr>Wingdings 3</vt:lpstr>
      <vt:lpstr>Madison</vt:lpstr>
      <vt:lpstr>Redes comunitarias con Starlink</vt:lpstr>
      <vt:lpstr>Concepto</vt:lpstr>
      <vt:lpstr>Características principales</vt:lpstr>
      <vt:lpstr>Tecnologías</vt:lpstr>
      <vt:lpstr>Importancia estratégica</vt:lpstr>
      <vt:lpstr>Ejemplo: Guifi.net</vt:lpstr>
      <vt:lpstr>Ejemplo: Guifi.net</vt:lpstr>
      <vt:lpstr>Ejemplo: Guifi.net</vt:lpstr>
      <vt:lpstr>Ejemplo: Guifi.net</vt:lpstr>
      <vt:lpstr>Organizaciones de apoyo</vt:lpstr>
      <vt:lpstr>Organizaciones de apoyo</vt:lpstr>
      <vt:lpstr>Organizaciones de apoyo</vt:lpstr>
      <vt:lpstr>Arquitectura General</vt:lpstr>
      <vt:lpstr>Backhaul: Conexión Principal</vt:lpstr>
      <vt:lpstr>Tecnologías Inalámbricas</vt:lpstr>
      <vt:lpstr>Redes Mesh</vt:lpstr>
      <vt:lpstr>Fibra Comunitaria</vt:lpstr>
      <vt:lpstr>Redes Celulares Comunitarias</vt:lpstr>
      <vt:lpstr>Energía e Infraestructura</vt:lpstr>
      <vt:lpstr>Software y Gestión</vt:lpstr>
      <vt:lpstr>Tendencias y Retos</vt:lpstr>
      <vt:lpstr>Protocolo B.A.T.M.A.N.</vt:lpstr>
      <vt:lpstr>Concepto Fundamental</vt:lpstr>
      <vt:lpstr>Funcionamiento Básico</vt:lpstr>
      <vt:lpstr>Arquitectura Mesh</vt:lpstr>
      <vt:lpstr>Ventajas de BATMAN</vt:lpstr>
      <vt:lpstr>Limitaciones</vt:lpstr>
      <vt:lpstr>Hardware Usado en Redes BATMAN</vt:lpstr>
      <vt:lpstr>Equipos Ubiquiti</vt:lpstr>
      <vt:lpstr>Equipos MikroTik</vt:lpstr>
      <vt:lpstr>Software y Firmware</vt:lpstr>
      <vt:lpstr>Casos Reales</vt:lpstr>
      <vt:lpstr>Arquitectura Moderna Híbrida</vt:lpstr>
      <vt:lpstr>Conclusiones</vt:lpstr>
      <vt:lpstr>¿Qué es Starlink?</vt:lpstr>
      <vt:lpstr>Arquitectura Básica</vt:lpstr>
      <vt:lpstr>Modelo Comunitario Simple</vt:lpstr>
      <vt:lpstr>Modelo con Redes Mesh</vt:lpstr>
      <vt:lpstr>Modelo con Torres Inalámbricas</vt:lpstr>
      <vt:lpstr>Equipos Utilizados</vt:lpstr>
      <vt:lpstr>Distribución Wi‑Fi Comunitaria</vt:lpstr>
      <vt:lpstr>Uso con Radioenlaces</vt:lpstr>
      <vt:lpstr>Energía en Zonas Rurales</vt:lpstr>
      <vt:lpstr>Ventajas de Starlink</vt:lpstr>
      <vt:lpstr>Limitaciones</vt:lpstr>
      <vt:lpstr>Aspectos Regulatorios</vt:lpstr>
      <vt:lpstr>Casos de Uso Reales</vt:lpstr>
      <vt:lpstr>Arquitectura Moderna Recomendada</vt:lpstr>
      <vt:lpstr>Conclusiones</vt:lpstr>
      <vt:lpstr>Arquitectura típica con Starlink</vt:lpstr>
      <vt:lpstr>CAPEX – Costos iniciales</vt:lpstr>
      <vt:lpstr>Ejemplo de CAPEX – Nodo comunitario</vt:lpstr>
      <vt:lpstr>OPEX – Costos operativos mensuales</vt:lpstr>
      <vt:lpstr>Modelo económico comunitario</vt:lpstr>
      <vt:lpstr>Ventajas de Starlink en redes ciudadanas</vt:lpstr>
      <vt:lpstr>Limitaciones y riesgos</vt:lpstr>
      <vt:lpstr>Conclusiones</vt:lpstr>
      <vt:lpstr>Fuentes y 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comunitarias con Starlink</dc:title>
  <dc:creator>SM-COM</dc:creator>
  <cp:lastModifiedBy>Polux</cp:lastModifiedBy>
  <cp:revision>6</cp:revision>
  <dcterms:created xsi:type="dcterms:W3CDTF">2026-05-15T15:29:08Z</dcterms:created>
  <dcterms:modified xsi:type="dcterms:W3CDTF">2026-05-27T01:34:03Z</dcterms:modified>
</cp:coreProperties>
</file>